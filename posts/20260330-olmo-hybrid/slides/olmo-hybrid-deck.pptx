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E411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1682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OLMo Hybrid: Mixing Attention and Recurrence in LLMs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08924" y="2749600"/>
            <a:ext cx="52600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ZZ Si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986946" y="3260675"/>
            <a:ext cx="11699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13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31, 2026</a:t>
            </a:r>
            <a:endParaRPr lang="en-US" sz="1300" dirty="0"/>
          </a:p>
        </p:txBody>
      </p:sp>
      <p:pic>
        <p:nvPicPr>
          <p:cNvPr id="6" name="Image 0" descr="/Users/zzsi/projects/worktrees/blog/olmo-hybrid/posts/20260330-olmo-hybrid/slides/kungf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198" y="4565898"/>
            <a:ext cx="634901" cy="4506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E411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Cover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87326"/>
            <a:ext cx="4009314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1000" y="1328142"/>
            <a:ext cx="3930700" cy="2267545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OLMo paper overview</a:t>
            </a:r>
            <a:endParaRPr lang="en-US" sz="1100" dirty="0"/>
          </a:p>
          <a:p>
            <a:pPr algn="l" marL="152400" indent="-1524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architecture: how GDN + attention layers are combined</a:t>
            </a:r>
            <a:endParaRPr lang="en-US" sz="1100" dirty="0"/>
          </a:p>
          <a:p>
            <a:pPr algn="l" marL="152400" indent="-1524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History: from delta rule to gated delta net</a:t>
            </a:r>
            <a:endParaRPr lang="en-US" sz="1100" dirty="0"/>
          </a:p>
          <a:p>
            <a:pPr algn="l" marL="152400" indent="-1524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broader landscape: multiple teams converging on hybrid architectures</a:t>
            </a:r>
            <a:endParaRPr lang="en-US" sz="1100" dirty="0"/>
          </a:p>
          <a:p>
            <a:pPr algn="l" marL="152400" indent="-1524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laws and the theory of why expressivity improves efficiency</a:t>
            </a:r>
            <a:endParaRPr lang="en-US" sz="1100" dirty="0"/>
          </a:p>
          <a:p>
            <a:pPr algn="l" marL="152400" indent="-1524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implications: what changes in a training stack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65600" y="987326"/>
            <a:ext cx="12650" cy="3978473"/>
          </a:xfrm>
          <a:prstGeom prst="rect">
            <a:avLst/>
          </a:prstGeom>
          <a:solidFill>
            <a:srgbClr val="D9D5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32152" y="987326"/>
            <a:ext cx="4009465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take away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32152" y="1328142"/>
            <a:ext cx="4009465" cy="810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LLM architectures are moving beyond pure transformers. Multiple teams (Allen AI, NVIDIA, Alibaba, Moonshot) have independently shown real gains by mixing recurrent layers with attention.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32152" y="2265313"/>
            <a:ext cx="4009465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talk covers what these hybrid models are, why they work, and what the math behind them looks like.</a:t>
            </a:r>
            <a:endParaRPr lang="en-US" sz="1100" dirty="0"/>
          </a:p>
        </p:txBody>
      </p:sp>
      <p:pic>
        <p:nvPicPr>
          <p:cNvPr id="10" name="Image 0" descr="/Users/zzsi/projects/worktrees/blog/olmo-hybrid/posts/20260330-olmo-hybrid/slides/kungf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198" y="4565898"/>
            <a:ext cx="634901" cy="4506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E411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3 Parts GDN, 1 Part Attention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62025"/>
            <a:ext cx="33019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Stack (repeating block)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298525"/>
            <a:ext cx="3237161" cy="314325"/>
          </a:xfrm>
          <a:prstGeom prst="roundRect">
            <a:avLst>
              <a:gd name="adj" fmla="val 12121"/>
            </a:avLst>
          </a:prstGeom>
          <a:solidFill>
            <a:srgbClr val="E8F5E9"/>
          </a:solidFill>
          <a:ln w="9525">
            <a:solidFill>
              <a:srgbClr val="A5D6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7833" y="1384250"/>
            <a:ext cx="30234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GDN Layer + MLP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1000" y="1650950"/>
            <a:ext cx="3237161" cy="314325"/>
          </a:xfrm>
          <a:prstGeom prst="roundRect">
            <a:avLst>
              <a:gd name="adj" fmla="val 12121"/>
            </a:avLst>
          </a:prstGeom>
          <a:solidFill>
            <a:srgbClr val="E8F5E9"/>
          </a:solidFill>
          <a:ln w="9525">
            <a:solidFill>
              <a:srgbClr val="A5D6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7833" y="1736675"/>
            <a:ext cx="30234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GDN Layer + MLP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1000" y="2003375"/>
            <a:ext cx="3237161" cy="314325"/>
          </a:xfrm>
          <a:prstGeom prst="roundRect">
            <a:avLst>
              <a:gd name="adj" fmla="val 12121"/>
            </a:avLst>
          </a:prstGeom>
          <a:solidFill>
            <a:srgbClr val="E8F5E9"/>
          </a:solidFill>
          <a:ln w="9525">
            <a:solidFill>
              <a:srgbClr val="A5D6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833" y="2089100"/>
            <a:ext cx="30234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GDN Layer + MLP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1000" y="2355800"/>
            <a:ext cx="3237161" cy="314325"/>
          </a:xfrm>
          <a:prstGeom prst="roundRect">
            <a:avLst>
              <a:gd name="adj" fmla="val 12121"/>
            </a:avLst>
          </a:prstGeom>
          <a:solidFill>
            <a:srgbClr val="E3F2FD"/>
          </a:solidFill>
          <a:ln w="9525">
            <a:solidFill>
              <a:srgbClr val="90CAF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7833" y="2441525"/>
            <a:ext cx="30234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Attention Layer + MLP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8628" y="2733526"/>
            <a:ext cx="33019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x8 for 32 layers total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1000" y="3028652"/>
            <a:ext cx="33019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OLMo 3's sliding-window attention layers with GDN. Full attention layers kept at every 4th position.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72061" y="962025"/>
            <a:ext cx="12650" cy="4029075"/>
          </a:xfrm>
          <a:prstGeom prst="rect">
            <a:avLst/>
          </a:prstGeom>
          <a:solidFill>
            <a:srgbClr val="D9D5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138613" y="962025"/>
            <a:ext cx="47168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Decisions (Ablations)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38613" y="1298525"/>
            <a:ext cx="4624388" cy="2064544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GDN over Mamba-2: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Mamba-2 performed worse at every scale, even in hybrid configs</a:t>
            </a:r>
            <a:endParaRPr lang="en-US" sz="1100" dirty="0"/>
          </a:p>
          <a:p>
            <a:pPr algn="l" marL="152400" indent="-1524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Interleaved over clustered: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distributing attention uniformly lets every part of the network access global context</a:t>
            </a:r>
            <a:endParaRPr lang="en-US" sz="1100" dirty="0"/>
          </a:p>
          <a:p>
            <a:pPr algn="l" marL="152400" indent="-1524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 ratio over 1:1 or 7:1: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best trade-off; all hybrid ratios beat pure transformer at scale</a:t>
            </a:r>
            <a:endParaRPr lang="en-US" sz="1100" dirty="0"/>
          </a:p>
          <a:p>
            <a:pPr algn="l" marL="152400" indent="-1524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budget: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GDN layers have more params per head than attention, so they reduced heads from 32→30 and shrunk head dims to keep total at ~7B and match OLMo 3 throughput</a:t>
            </a:r>
            <a:endParaRPr lang="en-US" sz="1100" dirty="0"/>
          </a:p>
        </p:txBody>
      </p:sp>
      <p:pic>
        <p:nvPicPr>
          <p:cNvPr id="18" name="Image 0" descr="/Users/zzsi/projects/worktrees/blog/olmo-hybrid/posts/20260330-olmo-hybrid/slides/kungf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198" y="4565898"/>
            <a:ext cx="634901" cy="4506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E411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53201" y="1601837"/>
            <a:ext cx="763759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GDN, and where does it come from?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671255" y="2214563"/>
            <a:ext cx="38013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400"/>
              </a:spcAft>
              <a:buNone/>
            </a:pPr>
            <a:r>
              <a:rPr lang="en-US" sz="1600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lineage from the 1960s to OLMo Hybrid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20179" y="2947988"/>
            <a:ext cx="6047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20179" y="3195638"/>
            <a:ext cx="6047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Rule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45841" y="3030438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71001" y="2947988"/>
            <a:ext cx="5039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71001" y="3195638"/>
            <a:ext cx="503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DeltaNet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96853" y="3030438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18201" y="2947988"/>
            <a:ext cx="8927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18201" y="3195638"/>
            <a:ext cx="8927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 DeltaNet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29014" y="3030438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48067" y="2947988"/>
            <a:ext cx="11268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48067" y="3195638"/>
            <a:ext cx="11268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Neg. Eigenvalues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90667" y="3030438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19267" y="2757488"/>
            <a:ext cx="1000125" cy="784175"/>
          </a:xfrm>
          <a:prstGeom prst="roundRect">
            <a:avLst>
              <a:gd name="adj" fmla="val 6478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12797" y="2947988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12797" y="3195638"/>
            <a:ext cx="8130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OLMo Hybrid</a:t>
            </a:r>
            <a:endParaRPr lang="en-US" sz="1000" dirty="0"/>
          </a:p>
        </p:txBody>
      </p:sp>
      <p:pic>
        <p:nvPicPr>
          <p:cNvPr id="20" name="Image 0" descr="/Users/zzsi/projects/worktrees/blog/olmo-hybrid/posts/20260330-olmo-hybrid/slides/kungf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198" y="4565898"/>
            <a:ext cx="634901" cy="4506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7827"/>
          </a:xfrm>
          <a:prstGeom prst="rect">
            <a:avLst/>
          </a:prstGeom>
          <a:solidFill>
            <a:srgbClr val="E411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7701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 Layers Converging to Hybrid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56491" y="758577"/>
            <a:ext cx="40308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hybrid also uses transformer attention (edges omitted for clarity)</a:t>
            </a:r>
            <a:endParaRPr lang="en-US" sz="1000" dirty="0"/>
          </a:p>
        </p:txBody>
      </p:sp>
      <p:pic>
        <p:nvPicPr>
          <p:cNvPr id="5" name="Image 0" descr="/Users/zzsi/projects/worktrees/blog/olmo-hybrid/posts/20260330-olmo-hybrid/slides/line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9481" y="952202"/>
            <a:ext cx="5545038" cy="3810000"/>
          </a:xfrm>
          <a:prstGeom prst="rect">
            <a:avLst/>
          </a:prstGeom>
        </p:spPr>
      </p:pic>
      <p:pic>
        <p:nvPicPr>
          <p:cNvPr id="6" name="Image 1" descr="/Users/zzsi/projects/worktrees/blog/olmo-hybrid/posts/20260330-olmo-hybrid/slides/kungfu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198" y="4565898"/>
            <a:ext cx="634901" cy="4506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E411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in Your Training Stack?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62025"/>
            <a:ext cx="40093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stays the same (~95%)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298525"/>
            <a:ext cx="3930700" cy="1383804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AdamW optimizer, WSD-S LR schedule</a:t>
            </a:r>
            <a:endParaRPr lang="en-US" sz="1100" dirty="0"/>
          </a:p>
          <a:p>
            <a:pPr algn="l" marL="152400" indent="-1524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pipeline (Dolma), 6T tokens</a:t>
            </a:r>
            <a:endParaRPr lang="en-US" sz="1100" dirty="0"/>
          </a:p>
          <a:p>
            <a:pPr algn="l" marL="152400" indent="-1524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Pretrain, mid-train, long-context, post-train</a:t>
            </a:r>
            <a:endParaRPr lang="en-US" sz="1100" dirty="0"/>
          </a:p>
          <a:p>
            <a:pPr algn="l" marL="152400" indent="-1524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Post-training: Think SFT, Instruct SFT, DPO</a:t>
            </a:r>
            <a:endParaRPr lang="en-US" sz="1100" dirty="0"/>
          </a:p>
          <a:p>
            <a:pPr algn="l" marL="152400" indent="-1524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Evaluation suite (OlmoBaseEval)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65600" y="962025"/>
            <a:ext cx="12650" cy="3222724"/>
          </a:xfrm>
          <a:prstGeom prst="rect">
            <a:avLst/>
          </a:prstGeom>
          <a:solidFill>
            <a:srgbClr val="D9D5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32152" y="962025"/>
            <a:ext cx="40094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32152" y="1298525"/>
            <a:ext cx="3930848" cy="1477863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8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flash-linear-attention (fla)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kernels for GDN layers</a:t>
            </a:r>
            <a:endParaRPr lang="en-US" sz="1100" dirty="0"/>
          </a:p>
          <a:p>
            <a:pPr algn="l" marL="152400" indent="-1524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8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DroPE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long-context (GDN provides implicit positional info)</a:t>
            </a:r>
            <a:endParaRPr lang="en-US" sz="1100" dirty="0"/>
          </a:p>
          <a:p>
            <a:pPr algn="l" marL="152400" indent="-1524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8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tuning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30 heads, adjusted dims to match throughput</a:t>
            </a:r>
            <a:endParaRPr lang="en-US" sz="1100" dirty="0"/>
          </a:p>
          <a:p>
            <a:pPr algn="l" marL="152400" indent="-1524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8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Doubled mid-training batch size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1000" y="4337149"/>
            <a:ext cx="7620000" cy="628650"/>
          </a:xfrm>
          <a:prstGeom prst="roundRect">
            <a:avLst>
              <a:gd name="adj" fmla="val 8081"/>
            </a:avLst>
          </a:prstGeom>
          <a:solidFill>
            <a:srgbClr val="F5F3F2"/>
          </a:solidFill>
          <a:ln w="9525">
            <a:solidFill>
              <a:srgbClr val="D9D5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2925" y="4499074"/>
            <a:ext cx="74420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hybrid architecture gives big gains with minimal recipe changes. The main tooling difference is the fla library for GDN kernels.</a:t>
            </a:r>
            <a:endParaRPr lang="en-US" sz="1100" dirty="0"/>
          </a:p>
        </p:txBody>
      </p:sp>
      <p:pic>
        <p:nvPicPr>
          <p:cNvPr id="11" name="Image 0" descr="/Users/zzsi/projects/worktrees/blog/olmo-hybrid/posts/20260330-olmo-hybrid/slides/kungf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198" y="4565898"/>
            <a:ext cx="634901" cy="4506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9625"/>
          </a:xfrm>
          <a:prstGeom prst="rect">
            <a:avLst/>
          </a:prstGeom>
          <a:solidFill>
            <a:srgbClr val="E411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flash-linear-attention (fla)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87326"/>
            <a:ext cx="4009314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it?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1000" y="1328142"/>
            <a:ext cx="4009314" cy="607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open-source library of efficient GPU kernels for linear attention and DeltaNet-family models. The key enabler for training GDN layers at scale.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1000" y="2037308"/>
            <a:ext cx="4009314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maintains it?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1000" y="2378125"/>
            <a:ext cx="4009314" cy="607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Maintained by the lead authors of the DeltaNet training and GDN papers. Used by OLMo Hybrid, and referenced by multiple hybrid LLM teams.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1000" y="3087291"/>
            <a:ext cx="3930700" cy="1161008"/>
          </a:xfrm>
          <a:prstGeom prst="roundRect">
            <a:avLst>
              <a:gd name="adj" fmla="val 4376"/>
            </a:avLst>
          </a:prstGeom>
          <a:solidFill>
            <a:srgbClr val="F5F3F2"/>
          </a:solidFill>
          <a:ln w="9525">
            <a:solidFill>
              <a:srgbClr val="D9D5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2925" y="3223766"/>
            <a:ext cx="3678987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</a:t>
            </a:r>
            <a:pPr algn="l" indent="0" marL="0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fla-org/flash-linear-attention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2925" y="3458468"/>
            <a:ext cx="3678987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Supports:</a:t>
            </a:r>
            <a:pPr algn="l" indent="0" marL="0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DeltaNet, Gated DeltaNet, GLA, linear attention, and more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2925" y="3877121"/>
            <a:ext cx="3678987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</a:t>
            </a:r>
            <a:pPr algn="l" indent="0" marL="0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Triton kernels (no custom CUDA needed)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65600" y="987326"/>
            <a:ext cx="12650" cy="3978473"/>
          </a:xfrm>
          <a:prstGeom prst="rect">
            <a:avLst/>
          </a:prstGeom>
          <a:solidFill>
            <a:srgbClr val="D9D5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32152" y="987326"/>
            <a:ext cx="4009465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32152" y="1328142"/>
            <a:ext cx="4009465" cy="607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fla, DeltaNet training would be sequential (one token at a time). fla implements </a:t>
            </a:r>
            <a:pPr algn="l" indent="0" marL="0">
              <a:lnSpc>
                <a:spcPts val="1595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chunk-parallel algorithms</a:t>
            </a:r>
            <a:pPr algn="l" indent="0" marL="0">
              <a:lnSpc>
                <a:spcPts val="1595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make training throughput competitive with FlashAttention.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32152" y="2037308"/>
            <a:ext cx="4009465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41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(high level)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32152" y="2378125"/>
            <a:ext cx="3930848" cy="1579662"/>
          </a:xfrm>
          <a:prstGeom prst="roundRect">
            <a:avLst>
              <a:gd name="adj" fmla="val 3216"/>
            </a:avLst>
          </a:prstGeom>
          <a:solidFill>
            <a:srgbClr val="F5F3F2"/>
          </a:solidFill>
          <a:ln w="9525">
            <a:solidFill>
              <a:srgbClr val="D9D5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94077" y="2514600"/>
            <a:ext cx="3679138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Chunk the sequence</a:t>
            </a:r>
            <a:pPr algn="l" indent="0" marL="0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into blocks of size C (64-256)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94077" y="2749302"/>
            <a:ext cx="3679138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Within each chunk:</a:t>
            </a:r>
            <a:pPr algn="l" indent="0" marL="0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compute all outputs via dense matmuls (fully parallel)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94077" y="3167955"/>
            <a:ext cx="3679138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Across chunks:</a:t>
            </a:r>
            <a:pPr algn="l" indent="0" marL="0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propagate a single state update per boundary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94077" y="3586609"/>
            <a:ext cx="3679138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pPr algn="l" indent="0" marL="0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sequential depth drops from L to L/C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32152" y="4033986"/>
            <a:ext cx="4009465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10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OLMo Hybrid slightly outperforms OLMo 3 in early training throughput benchmarks, despite the recurrent layers.</a:t>
            </a:r>
            <a:endParaRPr lang="en-US" sz="1100" dirty="0"/>
          </a:p>
        </p:txBody>
      </p:sp>
      <p:pic>
        <p:nvPicPr>
          <p:cNvPr id="22" name="Image 0" descr="/Users/zzsi/projects/worktrees/blog/olmo-hybrid/posts/20260330-olmo-hybrid/slides/kungf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198" y="4565898"/>
            <a:ext cx="634901" cy="45065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OLMo Hybrid: Mixing Attention and Recurrence in LLMs</dc:title>
  <dc:subject>PptxGenJS Presentation</dc:subject>
  <dc:creator>KungFu AI</dc:creator>
  <cp:lastModifiedBy>KungFu AI</cp:lastModifiedBy>
  <cp:revision>1</cp:revision>
  <dcterms:created xsi:type="dcterms:W3CDTF">2026-04-03T20:51:05Z</dcterms:created>
  <dcterms:modified xsi:type="dcterms:W3CDTF">2026-04-03T20:51:05Z</dcterms:modified>
</cp:coreProperties>
</file>